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E3636E-4A90-1D06-F75A-4CBD3606C637}" v="113" dt="2026-03-04T20:37:19.688"/>
    <p1510:client id="{9AF608BE-8C93-4621-905C-F7B53877C7BE}" v="223" dt="2026-03-04T21:39:34.193"/>
    <p1510:client id="{9D647BCA-2EAB-4661-A3FD-A701CB680CA2}" v="184" dt="2026-03-04T22:19:22.3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CBD54E-E85A-4404-AABE-54B139EDD71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E5A4C86-428F-4ECC-86D1-EBB3BCD29F23}">
      <dgm:prSet/>
      <dgm:spPr/>
      <dgm:t>
        <a:bodyPr/>
        <a:lstStyle/>
        <a:p>
          <a:r>
            <a:rPr lang="en-US" b="1" dirty="0"/>
            <a:t>Process Steps </a:t>
          </a:r>
          <a:r>
            <a:rPr lang="en-US" b="1" dirty="0">
              <a:latin typeface="Calibri Light" panose="020F0302020204030204"/>
            </a:rPr>
            <a:t>:</a:t>
          </a:r>
          <a:endParaRPr lang="en-US" dirty="0"/>
        </a:p>
      </dgm:t>
    </dgm:pt>
    <dgm:pt modelId="{D6D7B24C-3A41-4BC9-8BD1-396BE0B5A5FE}" type="parTrans" cxnId="{335B8E50-859F-486B-B049-3D8AA8994322}">
      <dgm:prSet/>
      <dgm:spPr/>
      <dgm:t>
        <a:bodyPr/>
        <a:lstStyle/>
        <a:p>
          <a:endParaRPr lang="en-US"/>
        </a:p>
      </dgm:t>
    </dgm:pt>
    <dgm:pt modelId="{5B8B947B-0A19-4C36-B7A8-13216775E7C0}" type="sibTrans" cxnId="{335B8E50-859F-486B-B049-3D8AA8994322}">
      <dgm:prSet/>
      <dgm:spPr/>
      <dgm:t>
        <a:bodyPr/>
        <a:lstStyle/>
        <a:p>
          <a:endParaRPr lang="en-US"/>
        </a:p>
      </dgm:t>
    </dgm:pt>
    <dgm:pt modelId="{F19950D6-D86F-4CDD-854E-B0C5891F4502}">
      <dgm:prSet/>
      <dgm:spPr/>
      <dgm:t>
        <a:bodyPr/>
        <a:lstStyle/>
        <a:p>
          <a:r>
            <a:rPr lang="en-US" b="1" dirty="0"/>
            <a:t>Data Cleaning:</a:t>
          </a:r>
          <a:r>
            <a:rPr lang="en-US" dirty="0"/>
            <a:t> Handling missing values and encoding categorical data (Gender, BMI).</a:t>
          </a:r>
        </a:p>
      </dgm:t>
    </dgm:pt>
    <dgm:pt modelId="{D31903BA-3CB3-42FB-9B27-58DAD233E5F2}" type="parTrans" cxnId="{DAD09F41-C918-4FFB-AC77-50FFB84B150D}">
      <dgm:prSet/>
      <dgm:spPr/>
      <dgm:t>
        <a:bodyPr/>
        <a:lstStyle/>
        <a:p>
          <a:endParaRPr lang="en-US"/>
        </a:p>
      </dgm:t>
    </dgm:pt>
    <dgm:pt modelId="{1DBF0CED-FDB7-4D7E-84F9-3A49DA5EBAAB}" type="sibTrans" cxnId="{DAD09F41-C918-4FFB-AC77-50FFB84B150D}">
      <dgm:prSet/>
      <dgm:spPr/>
      <dgm:t>
        <a:bodyPr/>
        <a:lstStyle/>
        <a:p>
          <a:endParaRPr lang="en-US"/>
        </a:p>
      </dgm:t>
    </dgm:pt>
    <dgm:pt modelId="{EE25E3F3-DF83-4542-BB50-13CA00A91C14}">
      <dgm:prSet/>
      <dgm:spPr/>
      <dgm:t>
        <a:bodyPr/>
        <a:lstStyle/>
        <a:p>
          <a:r>
            <a:rPr lang="en-US" b="1" dirty="0"/>
            <a:t>Feature Selection:</a:t>
          </a:r>
          <a:r>
            <a:rPr lang="en-US" dirty="0"/>
            <a:t> Prioritizing high-impact lifestyle metrics.</a:t>
          </a:r>
        </a:p>
      </dgm:t>
    </dgm:pt>
    <dgm:pt modelId="{4954381F-A63E-40B9-8B39-9D006D0B9995}" type="parTrans" cxnId="{CE483FF6-ACCB-40DF-8535-038983AFAEEE}">
      <dgm:prSet/>
      <dgm:spPr/>
      <dgm:t>
        <a:bodyPr/>
        <a:lstStyle/>
        <a:p>
          <a:endParaRPr lang="en-US"/>
        </a:p>
      </dgm:t>
    </dgm:pt>
    <dgm:pt modelId="{B0145531-36A8-4012-B600-AF766E8AEB41}" type="sibTrans" cxnId="{CE483FF6-ACCB-40DF-8535-038983AFAEEE}">
      <dgm:prSet/>
      <dgm:spPr/>
      <dgm:t>
        <a:bodyPr/>
        <a:lstStyle/>
        <a:p>
          <a:endParaRPr lang="en-US"/>
        </a:p>
      </dgm:t>
    </dgm:pt>
    <dgm:pt modelId="{EC7339CC-73F5-41A8-A91A-FED5F7C141FC}">
      <dgm:prSet/>
      <dgm:spPr/>
      <dgm:t>
        <a:bodyPr/>
        <a:lstStyle/>
        <a:p>
          <a:r>
            <a:rPr lang="en-US" b="1" dirty="0"/>
            <a:t>Model Training:</a:t>
          </a:r>
          <a:r>
            <a:rPr lang="en-US" dirty="0"/>
            <a:t> Compared Decision Tree, Random Forest, and </a:t>
          </a:r>
          <a:r>
            <a:rPr lang="en-US" dirty="0" err="1"/>
            <a:t>XGBoost</a:t>
          </a:r>
          <a:r>
            <a:rPr lang="en-US" dirty="0"/>
            <a:t>.</a:t>
          </a:r>
        </a:p>
      </dgm:t>
    </dgm:pt>
    <dgm:pt modelId="{F3404F4C-E1E6-4788-8958-8BA10621B091}" type="parTrans" cxnId="{EDBCDD38-BB05-49DF-A33B-300C4CB6D8E5}">
      <dgm:prSet/>
      <dgm:spPr/>
      <dgm:t>
        <a:bodyPr/>
        <a:lstStyle/>
        <a:p>
          <a:endParaRPr lang="en-US"/>
        </a:p>
      </dgm:t>
    </dgm:pt>
    <dgm:pt modelId="{A7787E4E-BCA5-493B-BEDC-9A0C6E5F907F}" type="sibTrans" cxnId="{EDBCDD38-BB05-49DF-A33B-300C4CB6D8E5}">
      <dgm:prSet/>
      <dgm:spPr/>
      <dgm:t>
        <a:bodyPr/>
        <a:lstStyle/>
        <a:p>
          <a:endParaRPr lang="en-US"/>
        </a:p>
      </dgm:t>
    </dgm:pt>
    <dgm:pt modelId="{FC94AECF-8154-4F38-804A-2C27ECD04D98}" type="pres">
      <dgm:prSet presAssocID="{3ECBD54E-E85A-4404-AABE-54B139EDD712}" presName="vert0" presStyleCnt="0">
        <dgm:presLayoutVars>
          <dgm:dir/>
          <dgm:animOne val="branch"/>
          <dgm:animLvl val="lvl"/>
        </dgm:presLayoutVars>
      </dgm:prSet>
      <dgm:spPr/>
    </dgm:pt>
    <dgm:pt modelId="{87109EB5-1A63-4EFB-913A-4B68970C8028}" type="pres">
      <dgm:prSet presAssocID="{9E5A4C86-428F-4ECC-86D1-EBB3BCD29F23}" presName="thickLine" presStyleLbl="alignNode1" presStyleIdx="0" presStyleCnt="4"/>
      <dgm:spPr/>
    </dgm:pt>
    <dgm:pt modelId="{D72A3033-E0D9-49C6-B298-87DEDF9D6C10}" type="pres">
      <dgm:prSet presAssocID="{9E5A4C86-428F-4ECC-86D1-EBB3BCD29F23}" presName="horz1" presStyleCnt="0"/>
      <dgm:spPr/>
    </dgm:pt>
    <dgm:pt modelId="{52F405F2-BF24-4DDC-AC69-0263DCC7AFC8}" type="pres">
      <dgm:prSet presAssocID="{9E5A4C86-428F-4ECC-86D1-EBB3BCD29F23}" presName="tx1" presStyleLbl="revTx" presStyleIdx="0" presStyleCnt="4"/>
      <dgm:spPr/>
    </dgm:pt>
    <dgm:pt modelId="{210177F1-D011-49E9-9211-9E940FA396A8}" type="pres">
      <dgm:prSet presAssocID="{9E5A4C86-428F-4ECC-86D1-EBB3BCD29F23}" presName="vert1" presStyleCnt="0"/>
      <dgm:spPr/>
    </dgm:pt>
    <dgm:pt modelId="{DA3D8386-91AC-4B84-AEDC-E459900CDEF6}" type="pres">
      <dgm:prSet presAssocID="{F19950D6-D86F-4CDD-854E-B0C5891F4502}" presName="thickLine" presStyleLbl="alignNode1" presStyleIdx="1" presStyleCnt="4"/>
      <dgm:spPr/>
    </dgm:pt>
    <dgm:pt modelId="{7BAB0BA4-6AB6-404D-9844-ED5A325E8CEF}" type="pres">
      <dgm:prSet presAssocID="{F19950D6-D86F-4CDD-854E-B0C5891F4502}" presName="horz1" presStyleCnt="0"/>
      <dgm:spPr/>
    </dgm:pt>
    <dgm:pt modelId="{DC83F026-6671-41B9-A7CA-9AD9D7E224D1}" type="pres">
      <dgm:prSet presAssocID="{F19950D6-D86F-4CDD-854E-B0C5891F4502}" presName="tx1" presStyleLbl="revTx" presStyleIdx="1" presStyleCnt="4"/>
      <dgm:spPr/>
    </dgm:pt>
    <dgm:pt modelId="{90EA3899-E953-4DC1-8F47-B3C8FC3DE91E}" type="pres">
      <dgm:prSet presAssocID="{F19950D6-D86F-4CDD-854E-B0C5891F4502}" presName="vert1" presStyleCnt="0"/>
      <dgm:spPr/>
    </dgm:pt>
    <dgm:pt modelId="{C27A9354-E7DA-466D-91F2-07160B114D75}" type="pres">
      <dgm:prSet presAssocID="{EE25E3F3-DF83-4542-BB50-13CA00A91C14}" presName="thickLine" presStyleLbl="alignNode1" presStyleIdx="2" presStyleCnt="4"/>
      <dgm:spPr/>
    </dgm:pt>
    <dgm:pt modelId="{F7387F00-5300-475C-B9E6-3AAADE8ED2BA}" type="pres">
      <dgm:prSet presAssocID="{EE25E3F3-DF83-4542-BB50-13CA00A91C14}" presName="horz1" presStyleCnt="0"/>
      <dgm:spPr/>
    </dgm:pt>
    <dgm:pt modelId="{536DDA63-3FEC-4A31-8696-40A6236765A5}" type="pres">
      <dgm:prSet presAssocID="{EE25E3F3-DF83-4542-BB50-13CA00A91C14}" presName="tx1" presStyleLbl="revTx" presStyleIdx="2" presStyleCnt="4"/>
      <dgm:spPr/>
    </dgm:pt>
    <dgm:pt modelId="{1D5D565F-929B-4028-99BE-11CC55FB7CA2}" type="pres">
      <dgm:prSet presAssocID="{EE25E3F3-DF83-4542-BB50-13CA00A91C14}" presName="vert1" presStyleCnt="0"/>
      <dgm:spPr/>
    </dgm:pt>
    <dgm:pt modelId="{A2FAC18B-B323-404E-995A-35E8AD3BD028}" type="pres">
      <dgm:prSet presAssocID="{EC7339CC-73F5-41A8-A91A-FED5F7C141FC}" presName="thickLine" presStyleLbl="alignNode1" presStyleIdx="3" presStyleCnt="4"/>
      <dgm:spPr/>
    </dgm:pt>
    <dgm:pt modelId="{24277A10-67B2-437A-AD12-E497E853025B}" type="pres">
      <dgm:prSet presAssocID="{EC7339CC-73F5-41A8-A91A-FED5F7C141FC}" presName="horz1" presStyleCnt="0"/>
      <dgm:spPr/>
    </dgm:pt>
    <dgm:pt modelId="{5C824C75-D195-4C43-BBE5-E2BEF3AA58E7}" type="pres">
      <dgm:prSet presAssocID="{EC7339CC-73F5-41A8-A91A-FED5F7C141FC}" presName="tx1" presStyleLbl="revTx" presStyleIdx="3" presStyleCnt="4"/>
      <dgm:spPr/>
    </dgm:pt>
    <dgm:pt modelId="{67A72DC6-F077-4F33-805E-6C2C4EB98F6B}" type="pres">
      <dgm:prSet presAssocID="{EC7339CC-73F5-41A8-A91A-FED5F7C141FC}" presName="vert1" presStyleCnt="0"/>
      <dgm:spPr/>
    </dgm:pt>
  </dgm:ptLst>
  <dgm:cxnLst>
    <dgm:cxn modelId="{2B65BA22-E02A-437D-B5E1-E9B19BC2F4C7}" type="presOf" srcId="{EE25E3F3-DF83-4542-BB50-13CA00A91C14}" destId="{536DDA63-3FEC-4A31-8696-40A6236765A5}" srcOrd="0" destOrd="0" presId="urn:microsoft.com/office/officeart/2008/layout/LinedList"/>
    <dgm:cxn modelId="{EDBCDD38-BB05-49DF-A33B-300C4CB6D8E5}" srcId="{3ECBD54E-E85A-4404-AABE-54B139EDD712}" destId="{EC7339CC-73F5-41A8-A91A-FED5F7C141FC}" srcOrd="3" destOrd="0" parTransId="{F3404F4C-E1E6-4788-8958-8BA10621B091}" sibTransId="{A7787E4E-BCA5-493B-BEDC-9A0C6E5F907F}"/>
    <dgm:cxn modelId="{DDDE9A5D-9FBC-49EB-B97E-D02040D86D63}" type="presOf" srcId="{EC7339CC-73F5-41A8-A91A-FED5F7C141FC}" destId="{5C824C75-D195-4C43-BBE5-E2BEF3AA58E7}" srcOrd="0" destOrd="0" presId="urn:microsoft.com/office/officeart/2008/layout/LinedList"/>
    <dgm:cxn modelId="{DAD09F41-C918-4FFB-AC77-50FFB84B150D}" srcId="{3ECBD54E-E85A-4404-AABE-54B139EDD712}" destId="{F19950D6-D86F-4CDD-854E-B0C5891F4502}" srcOrd="1" destOrd="0" parTransId="{D31903BA-3CB3-42FB-9B27-58DAD233E5F2}" sibTransId="{1DBF0CED-FDB7-4D7E-84F9-3A49DA5EBAAB}"/>
    <dgm:cxn modelId="{335B8E50-859F-486B-B049-3D8AA8994322}" srcId="{3ECBD54E-E85A-4404-AABE-54B139EDD712}" destId="{9E5A4C86-428F-4ECC-86D1-EBB3BCD29F23}" srcOrd="0" destOrd="0" parTransId="{D6D7B24C-3A41-4BC9-8BD1-396BE0B5A5FE}" sibTransId="{5B8B947B-0A19-4C36-B7A8-13216775E7C0}"/>
    <dgm:cxn modelId="{8634E38E-F005-4183-8958-4D7564388799}" type="presOf" srcId="{3ECBD54E-E85A-4404-AABE-54B139EDD712}" destId="{FC94AECF-8154-4F38-804A-2C27ECD04D98}" srcOrd="0" destOrd="0" presId="urn:microsoft.com/office/officeart/2008/layout/LinedList"/>
    <dgm:cxn modelId="{12F8ADB9-9EC7-4801-98E8-D09AAE4EAEF4}" type="presOf" srcId="{9E5A4C86-428F-4ECC-86D1-EBB3BCD29F23}" destId="{52F405F2-BF24-4DDC-AC69-0263DCC7AFC8}" srcOrd="0" destOrd="0" presId="urn:microsoft.com/office/officeart/2008/layout/LinedList"/>
    <dgm:cxn modelId="{2744C5EF-B0F9-43F6-8B70-1F7147CC27BD}" type="presOf" srcId="{F19950D6-D86F-4CDD-854E-B0C5891F4502}" destId="{DC83F026-6671-41B9-A7CA-9AD9D7E224D1}" srcOrd="0" destOrd="0" presId="urn:microsoft.com/office/officeart/2008/layout/LinedList"/>
    <dgm:cxn modelId="{CE483FF6-ACCB-40DF-8535-038983AFAEEE}" srcId="{3ECBD54E-E85A-4404-AABE-54B139EDD712}" destId="{EE25E3F3-DF83-4542-BB50-13CA00A91C14}" srcOrd="2" destOrd="0" parTransId="{4954381F-A63E-40B9-8B39-9D006D0B9995}" sibTransId="{B0145531-36A8-4012-B600-AF766E8AEB41}"/>
    <dgm:cxn modelId="{4EEE4970-FFFA-42D1-B79D-8498EFC2C328}" type="presParOf" srcId="{FC94AECF-8154-4F38-804A-2C27ECD04D98}" destId="{87109EB5-1A63-4EFB-913A-4B68970C8028}" srcOrd="0" destOrd="0" presId="urn:microsoft.com/office/officeart/2008/layout/LinedList"/>
    <dgm:cxn modelId="{A695309E-04D5-486D-81CA-20CED8E08868}" type="presParOf" srcId="{FC94AECF-8154-4F38-804A-2C27ECD04D98}" destId="{D72A3033-E0D9-49C6-B298-87DEDF9D6C10}" srcOrd="1" destOrd="0" presId="urn:microsoft.com/office/officeart/2008/layout/LinedList"/>
    <dgm:cxn modelId="{0F38CD11-5F39-4839-AB24-6A73FB708711}" type="presParOf" srcId="{D72A3033-E0D9-49C6-B298-87DEDF9D6C10}" destId="{52F405F2-BF24-4DDC-AC69-0263DCC7AFC8}" srcOrd="0" destOrd="0" presId="urn:microsoft.com/office/officeart/2008/layout/LinedList"/>
    <dgm:cxn modelId="{8FA6398F-3116-43A8-9EC6-E93DB550A1F4}" type="presParOf" srcId="{D72A3033-E0D9-49C6-B298-87DEDF9D6C10}" destId="{210177F1-D011-49E9-9211-9E940FA396A8}" srcOrd="1" destOrd="0" presId="urn:microsoft.com/office/officeart/2008/layout/LinedList"/>
    <dgm:cxn modelId="{A8704274-CD7F-44AF-AFE5-AA2467FFF3B0}" type="presParOf" srcId="{FC94AECF-8154-4F38-804A-2C27ECD04D98}" destId="{DA3D8386-91AC-4B84-AEDC-E459900CDEF6}" srcOrd="2" destOrd="0" presId="urn:microsoft.com/office/officeart/2008/layout/LinedList"/>
    <dgm:cxn modelId="{91F04769-CC1F-47B9-9A40-161AB5B34D52}" type="presParOf" srcId="{FC94AECF-8154-4F38-804A-2C27ECD04D98}" destId="{7BAB0BA4-6AB6-404D-9844-ED5A325E8CEF}" srcOrd="3" destOrd="0" presId="urn:microsoft.com/office/officeart/2008/layout/LinedList"/>
    <dgm:cxn modelId="{A4E6AFA7-9C3D-400F-8E39-64E3CB9F3B9C}" type="presParOf" srcId="{7BAB0BA4-6AB6-404D-9844-ED5A325E8CEF}" destId="{DC83F026-6671-41B9-A7CA-9AD9D7E224D1}" srcOrd="0" destOrd="0" presId="urn:microsoft.com/office/officeart/2008/layout/LinedList"/>
    <dgm:cxn modelId="{C288E779-B63E-4118-9B18-1AFA6AD1A6C6}" type="presParOf" srcId="{7BAB0BA4-6AB6-404D-9844-ED5A325E8CEF}" destId="{90EA3899-E953-4DC1-8F47-B3C8FC3DE91E}" srcOrd="1" destOrd="0" presId="urn:microsoft.com/office/officeart/2008/layout/LinedList"/>
    <dgm:cxn modelId="{615D14A8-1353-43E4-802E-C4EF6F1A2BF2}" type="presParOf" srcId="{FC94AECF-8154-4F38-804A-2C27ECD04D98}" destId="{C27A9354-E7DA-466D-91F2-07160B114D75}" srcOrd="4" destOrd="0" presId="urn:microsoft.com/office/officeart/2008/layout/LinedList"/>
    <dgm:cxn modelId="{39C253B2-A859-44AA-AA3E-DCB5EB0704C6}" type="presParOf" srcId="{FC94AECF-8154-4F38-804A-2C27ECD04D98}" destId="{F7387F00-5300-475C-B9E6-3AAADE8ED2BA}" srcOrd="5" destOrd="0" presId="urn:microsoft.com/office/officeart/2008/layout/LinedList"/>
    <dgm:cxn modelId="{2AA9111E-AAD5-4E72-9DCD-3D299D6FA0BF}" type="presParOf" srcId="{F7387F00-5300-475C-B9E6-3AAADE8ED2BA}" destId="{536DDA63-3FEC-4A31-8696-40A6236765A5}" srcOrd="0" destOrd="0" presId="urn:microsoft.com/office/officeart/2008/layout/LinedList"/>
    <dgm:cxn modelId="{18E35D9D-1FCD-4DF9-BC6E-22707B711F80}" type="presParOf" srcId="{F7387F00-5300-475C-B9E6-3AAADE8ED2BA}" destId="{1D5D565F-929B-4028-99BE-11CC55FB7CA2}" srcOrd="1" destOrd="0" presId="urn:microsoft.com/office/officeart/2008/layout/LinedList"/>
    <dgm:cxn modelId="{C4BDA035-8F6C-4A34-87C5-7BBFB431A338}" type="presParOf" srcId="{FC94AECF-8154-4F38-804A-2C27ECD04D98}" destId="{A2FAC18B-B323-404E-995A-35E8AD3BD028}" srcOrd="6" destOrd="0" presId="urn:microsoft.com/office/officeart/2008/layout/LinedList"/>
    <dgm:cxn modelId="{79C3C9E1-7EF1-451A-8E9F-4A3580E6AEEF}" type="presParOf" srcId="{FC94AECF-8154-4F38-804A-2C27ECD04D98}" destId="{24277A10-67B2-437A-AD12-E497E853025B}" srcOrd="7" destOrd="0" presId="urn:microsoft.com/office/officeart/2008/layout/LinedList"/>
    <dgm:cxn modelId="{D1DC47A6-3474-4490-82FE-A19C327BEE95}" type="presParOf" srcId="{24277A10-67B2-437A-AD12-E497E853025B}" destId="{5C824C75-D195-4C43-BBE5-E2BEF3AA58E7}" srcOrd="0" destOrd="0" presId="urn:microsoft.com/office/officeart/2008/layout/LinedList"/>
    <dgm:cxn modelId="{980D38A4-0679-4B01-8C41-19B70641C1B7}" type="presParOf" srcId="{24277A10-67B2-437A-AD12-E497E853025B}" destId="{67A72DC6-F077-4F33-805E-6C2C4EB98F6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109EB5-1A63-4EFB-913A-4B68970C8028}">
      <dsp:nvSpPr>
        <dsp:cNvPr id="0" name=""/>
        <dsp:cNvSpPr/>
      </dsp:nvSpPr>
      <dsp:spPr>
        <a:xfrm>
          <a:off x="0" y="0"/>
          <a:ext cx="67976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F405F2-BF24-4DDC-AC69-0263DCC7AFC8}">
      <dsp:nvSpPr>
        <dsp:cNvPr id="0" name=""/>
        <dsp:cNvSpPr/>
      </dsp:nvSpPr>
      <dsp:spPr>
        <a:xfrm>
          <a:off x="0" y="0"/>
          <a:ext cx="6797675" cy="141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Process Steps </a:t>
          </a:r>
          <a:r>
            <a:rPr lang="en-US" sz="2900" b="1" kern="1200" dirty="0">
              <a:latin typeface="Calibri Light" panose="020F0302020204030204"/>
            </a:rPr>
            <a:t>:</a:t>
          </a:r>
          <a:endParaRPr lang="en-US" sz="2900" kern="1200" dirty="0"/>
        </a:p>
      </dsp:txBody>
      <dsp:txXfrm>
        <a:off x="0" y="0"/>
        <a:ext cx="6797675" cy="1412477"/>
      </dsp:txXfrm>
    </dsp:sp>
    <dsp:sp modelId="{DA3D8386-91AC-4B84-AEDC-E459900CDEF6}">
      <dsp:nvSpPr>
        <dsp:cNvPr id="0" name=""/>
        <dsp:cNvSpPr/>
      </dsp:nvSpPr>
      <dsp:spPr>
        <a:xfrm>
          <a:off x="0" y="1412478"/>
          <a:ext cx="6797675" cy="0"/>
        </a:xfrm>
        <a:prstGeom prst="line">
          <a:avLst/>
        </a:prstGeom>
        <a:solidFill>
          <a:schemeClr val="accent2">
            <a:hueOff val="398533"/>
            <a:satOff val="245"/>
            <a:lumOff val="3203"/>
            <a:alphaOff val="0"/>
          </a:schemeClr>
        </a:solidFill>
        <a:ln w="15875" cap="flat" cmpd="sng" algn="ctr">
          <a:solidFill>
            <a:schemeClr val="accent2">
              <a:hueOff val="398533"/>
              <a:satOff val="245"/>
              <a:lumOff val="320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83F026-6671-41B9-A7CA-9AD9D7E224D1}">
      <dsp:nvSpPr>
        <dsp:cNvPr id="0" name=""/>
        <dsp:cNvSpPr/>
      </dsp:nvSpPr>
      <dsp:spPr>
        <a:xfrm>
          <a:off x="0" y="1412477"/>
          <a:ext cx="6797675" cy="141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Data Cleaning:</a:t>
          </a:r>
          <a:r>
            <a:rPr lang="en-US" sz="2900" kern="1200" dirty="0"/>
            <a:t> Handling missing values and encoding categorical data (Gender, BMI).</a:t>
          </a:r>
        </a:p>
      </dsp:txBody>
      <dsp:txXfrm>
        <a:off x="0" y="1412477"/>
        <a:ext cx="6797675" cy="1412477"/>
      </dsp:txXfrm>
    </dsp:sp>
    <dsp:sp modelId="{C27A9354-E7DA-466D-91F2-07160B114D75}">
      <dsp:nvSpPr>
        <dsp:cNvPr id="0" name=""/>
        <dsp:cNvSpPr/>
      </dsp:nvSpPr>
      <dsp:spPr>
        <a:xfrm>
          <a:off x="0" y="2824956"/>
          <a:ext cx="6797675" cy="0"/>
        </a:xfrm>
        <a:prstGeom prst="line">
          <a:avLst/>
        </a:prstGeom>
        <a:solidFill>
          <a:schemeClr val="accent2">
            <a:hueOff val="797066"/>
            <a:satOff val="490"/>
            <a:lumOff val="6405"/>
            <a:alphaOff val="0"/>
          </a:schemeClr>
        </a:solidFill>
        <a:ln w="15875" cap="flat" cmpd="sng" algn="ctr">
          <a:solidFill>
            <a:schemeClr val="accent2">
              <a:hueOff val="797066"/>
              <a:satOff val="490"/>
              <a:lumOff val="640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6DDA63-3FEC-4A31-8696-40A6236765A5}">
      <dsp:nvSpPr>
        <dsp:cNvPr id="0" name=""/>
        <dsp:cNvSpPr/>
      </dsp:nvSpPr>
      <dsp:spPr>
        <a:xfrm>
          <a:off x="0" y="2824955"/>
          <a:ext cx="6797675" cy="141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Feature Selection:</a:t>
          </a:r>
          <a:r>
            <a:rPr lang="en-US" sz="2900" kern="1200" dirty="0"/>
            <a:t> Prioritizing high-impact lifestyle metrics.</a:t>
          </a:r>
        </a:p>
      </dsp:txBody>
      <dsp:txXfrm>
        <a:off x="0" y="2824955"/>
        <a:ext cx="6797675" cy="1412477"/>
      </dsp:txXfrm>
    </dsp:sp>
    <dsp:sp modelId="{A2FAC18B-B323-404E-995A-35E8AD3BD028}">
      <dsp:nvSpPr>
        <dsp:cNvPr id="0" name=""/>
        <dsp:cNvSpPr/>
      </dsp:nvSpPr>
      <dsp:spPr>
        <a:xfrm>
          <a:off x="0" y="4237434"/>
          <a:ext cx="6797675" cy="0"/>
        </a:xfrm>
        <a:prstGeom prst="line">
          <a:avLst/>
        </a:prstGeom>
        <a:solidFill>
          <a:schemeClr val="accent2">
            <a:hueOff val="1195599"/>
            <a:satOff val="735"/>
            <a:lumOff val="9608"/>
            <a:alphaOff val="0"/>
          </a:schemeClr>
        </a:solidFill>
        <a:ln w="15875" cap="flat" cmpd="sng" algn="ctr">
          <a:solidFill>
            <a:schemeClr val="accent2">
              <a:hueOff val="1195599"/>
              <a:satOff val="735"/>
              <a:lumOff val="96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824C75-D195-4C43-BBE5-E2BEF3AA58E7}">
      <dsp:nvSpPr>
        <dsp:cNvPr id="0" name=""/>
        <dsp:cNvSpPr/>
      </dsp:nvSpPr>
      <dsp:spPr>
        <a:xfrm>
          <a:off x="0" y="4237433"/>
          <a:ext cx="6797675" cy="141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Model Training:</a:t>
          </a:r>
          <a:r>
            <a:rPr lang="en-US" sz="2900" kern="1200" dirty="0"/>
            <a:t> Compared Decision Tree, Random Forest, and </a:t>
          </a:r>
          <a:r>
            <a:rPr lang="en-US" sz="2900" kern="1200" dirty="0" err="1"/>
            <a:t>XGBoost</a:t>
          </a:r>
          <a:r>
            <a:rPr lang="en-US" sz="2900" kern="1200" dirty="0"/>
            <a:t>.</a:t>
          </a:r>
        </a:p>
      </dsp:txBody>
      <dsp:txXfrm>
        <a:off x="0" y="4237433"/>
        <a:ext cx="6797675" cy="14124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69CB8-F204-4D06-B913-C5A26A89888A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5348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376-B19C-488D-ABEB-03C7E6E9E3E0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601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077B-A50F-4D64-8574-E2D6A98A5553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8233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2A62-1983-43A1-A163-D8AA46534C80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63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F3E3B-34E3-4345-B2A1-994B83598A9C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554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6C96-82A1-4D77-8ADA-627AC6FE3D65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652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02C1E-28F2-47E9-802D-339E64E2F920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630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4271A48-F18A-45B3-BC05-1E27DA3F88AF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432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747F8-9654-4282-85D2-65F41AAE7A75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132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E300-0A13-4A81-945A-7333C271A069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055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1962-1EA4-46E7-BCB0-F36CE46D1A59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477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DC5B261-8843-42D1-AAFC-05E20E2D9B97}" type="datetimeFigureOut">
              <a:rPr lang="en-US" dirty="0"/>
              <a:t>3/4/2026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2841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0C7DAF87-3BFF-4598-9E58-F37AAD5DA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8423" y="3766457"/>
            <a:ext cx="10909073" cy="1654629"/>
          </a:xfrm>
        </p:spPr>
        <p:txBody>
          <a:bodyPr>
            <a:normAutofit/>
          </a:bodyPr>
          <a:lstStyle/>
          <a:p>
            <a:pPr algn="ctr"/>
            <a:r>
              <a:rPr lang="en-US" sz="6000" b="1">
                <a:ea typeface="+mj-lt"/>
                <a:cs typeface="+mj-lt"/>
              </a:rPr>
              <a:t>Predictive Analytics for Sleep Disorders</a:t>
            </a:r>
            <a:endParaRPr lang="en-US" sz="6000" b="1">
              <a:ea typeface="Calibri Light"/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1474" y="5496089"/>
            <a:ext cx="9622971" cy="77174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  <a:latin typeface="Corbel"/>
              </a:rPr>
              <a:t>Identifying Health &amp;Lifestyle Risk Factors using Machine Learning</a:t>
            </a:r>
            <a:endParaRPr lang="en-US" sz="1700">
              <a:solidFill>
                <a:schemeClr val="tx1">
                  <a:lumMod val="85000"/>
                  <a:lumOff val="15000"/>
                </a:schemeClr>
              </a:solidFill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 algn="ctr"/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  <a:latin typeface="Corbel"/>
              </a:rPr>
              <a:t>Pavan Lade | Intern – Data Science &amp; AI</a:t>
            </a:r>
            <a:endParaRPr lang="en-US" sz="1700">
              <a:solidFill>
                <a:schemeClr val="tx1">
                  <a:lumMod val="85000"/>
                  <a:lumOff val="15000"/>
                </a:schemeClr>
              </a:solidFill>
              <a:ea typeface="Calibri Light"/>
              <a:cs typeface="Calibri Light"/>
            </a:endParaRPr>
          </a:p>
          <a:p>
            <a:pPr algn="ctr"/>
            <a:endParaRPr lang="en-US" sz="1700">
              <a:solidFill>
                <a:schemeClr val="tx1">
                  <a:lumMod val="85000"/>
                  <a:lumOff val="15000"/>
                </a:schemeClr>
              </a:solidFill>
              <a:ea typeface="Calibri Light"/>
              <a:cs typeface="Calibri Light"/>
            </a:endParaRPr>
          </a:p>
        </p:txBody>
      </p:sp>
      <p:pic>
        <p:nvPicPr>
          <p:cNvPr id="4" name="Picture 3" descr="A person sleeping in bed">
            <a:extLst>
              <a:ext uri="{FF2B5EF4-FFF2-40B4-BE49-F238E27FC236}">
                <a16:creationId xmlns:a16="http://schemas.microsoft.com/office/drawing/2014/main" id="{300D3143-735D-47A2-B3D0-4FC2AC6E4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135" y="932016"/>
            <a:ext cx="4685066" cy="2506511"/>
          </a:xfrm>
          <a:prstGeom prst="rect">
            <a:avLst/>
          </a:prstGeom>
          <a:solidFill>
            <a:srgbClr val="FFFFFF"/>
          </a:solidFill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CD6AAC6-A413-4A54-80C1-9431655F9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35159" y="5433708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E5F2C0B5-62FF-45BA-A043-1E83DB28A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57956F2-A3E4-4E12-8E9E-2C7040BB9D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4DA75-77F9-5870-AFEA-8D07A1799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EB334-05B3-E683-557B-AB4514013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159710"/>
            <a:ext cx="10066773" cy="7646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>
                <a:ea typeface="+mj-lt"/>
                <a:cs typeface="+mj-lt"/>
              </a:rPr>
              <a:t>Project Overview &amp; Objectives</a:t>
            </a:r>
            <a:endParaRPr lang="en-US" b="1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9017F7B5-ADF9-FDAD-9FBA-13DB43EF00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1332259"/>
            <a:ext cx="10058400" cy="2968450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285750" indent="-285750">
              <a:buFont typeface="Arial"/>
              <a:buChar char="•"/>
            </a:pPr>
            <a:endParaRPr lang="en-US" b="1" dirty="0">
              <a:ea typeface="+mj-lt"/>
              <a:cs typeface="+mj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j-lt"/>
                <a:cs typeface="+mj-lt"/>
              </a:rPr>
              <a:t>Objective:</a:t>
            </a:r>
            <a:r>
              <a:rPr lang="en-US" dirty="0">
                <a:ea typeface="+mj-lt"/>
                <a:cs typeface="+mj-lt"/>
              </a:rPr>
              <a:t> To analyze lifestyle factors (BMI, Blood Pressure, Occupation) and build a model that predicts whether a person has </a:t>
            </a:r>
            <a:r>
              <a:rPr lang="en-US" b="1" dirty="0">
                <a:ea typeface="+mj-lt"/>
                <a:cs typeface="+mj-lt"/>
              </a:rPr>
              <a:t>Insomnia</a:t>
            </a:r>
            <a:r>
              <a:rPr lang="en-US" dirty="0">
                <a:ea typeface="+mj-lt"/>
                <a:cs typeface="+mj-lt"/>
              </a:rPr>
              <a:t>, </a:t>
            </a:r>
            <a:r>
              <a:rPr lang="en-US" b="1" dirty="0">
                <a:ea typeface="+mj-lt"/>
                <a:cs typeface="+mj-lt"/>
              </a:rPr>
              <a:t>Sleep Apnea</a:t>
            </a:r>
            <a:r>
              <a:rPr lang="en-US" dirty="0">
                <a:ea typeface="+mj-lt"/>
                <a:cs typeface="+mj-lt"/>
              </a:rPr>
              <a:t>, or </a:t>
            </a:r>
            <a:r>
              <a:rPr lang="en-US" b="1" dirty="0">
                <a:ea typeface="+mj-lt"/>
                <a:cs typeface="+mj-lt"/>
              </a:rPr>
              <a:t>No Disorder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>
              <a:ea typeface="Calibri Light"/>
              <a:cs typeface="Calibri Light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ea typeface="+mj-lt"/>
              <a:cs typeface="+mj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j-lt"/>
                <a:cs typeface="+mj-lt"/>
              </a:rPr>
              <a:t>The Data:</a:t>
            </a:r>
            <a:r>
              <a:rPr lang="en-US" dirty="0">
                <a:solidFill>
                  <a:srgbClr val="514949"/>
                </a:solidFill>
                <a:latin typeface="Calibri Light"/>
                <a:ea typeface="Calibri Light"/>
                <a:cs typeface="Calibri Light"/>
              </a:rPr>
              <a:t> 374 observations with 13 features including physical activity, stress levels, and cardiovascular metrics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 dirty="0"/>
          </a:p>
          <a:p>
            <a:endParaRPr lang="en-US" dirty="0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090584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355BDB16-82AD-4332-AC90-DA6C23F957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E074E1-D992-8D7E-120F-ED40C9278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4679" y="474526"/>
            <a:ext cx="6372979" cy="84917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dirty="0">
                <a:ea typeface="+mj-lt"/>
                <a:cs typeface="+mj-lt"/>
              </a:rPr>
              <a:t>Exploratory Data Analysis (EDA)</a:t>
            </a:r>
            <a:endParaRPr lang="en-US" sz="3200" b="1" dirty="0">
              <a:ea typeface="Calibri Light" panose="020F0302020204030204"/>
              <a:cs typeface="Calibri Light" panose="020F0302020204030204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800A8EA-592E-4EB8-87DC-57357DE509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801" r="4980" b="-139"/>
          <a:stretch>
            <a:fillRect/>
          </a:stretch>
        </p:blipFill>
        <p:spPr>
          <a:xfrm>
            <a:off x="260634" y="196089"/>
            <a:ext cx="4309826" cy="286114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DDFA162-28F6-4B17-96CD-4BAAB28DBA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81247" y="2086188"/>
            <a:ext cx="5852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EE1590AD-D3E4-1E2F-9085-20A1A3DE2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954" y="3266228"/>
            <a:ext cx="4315186" cy="290927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56FDE2B0-109C-F27B-1A67-845D00B6D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4679" y="2198914"/>
            <a:ext cx="6405063" cy="3670180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Arial" panose="020F0502020204030204" pitchFamily="34" charset="0"/>
              <a:buChar char="•"/>
            </a:pPr>
            <a:r>
              <a:rPr lang="en-US" b="1" dirty="0">
                <a:ea typeface="+mn-lt"/>
                <a:cs typeface="+mn-lt"/>
              </a:rPr>
              <a:t> Key Findings :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 b="1" dirty="0">
                <a:ea typeface="+mn-lt"/>
                <a:cs typeface="+mn-lt"/>
              </a:rPr>
              <a:t> Occupational Risk: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sz="1600" cap="all" spc="200" dirty="0">
                <a:solidFill>
                  <a:schemeClr val="tx2"/>
                </a:solidFill>
                <a:latin typeface="+mj-lt"/>
                <a:ea typeface="+mj-lt"/>
                <a:cs typeface="+mj-lt"/>
              </a:rPr>
              <a:t>Nurses and Doctors show the highest prevalence of Sleep Apnea/Insomnia.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b="1" dirty="0">
                <a:ea typeface="+mn-lt"/>
                <a:cs typeface="+mn-lt"/>
              </a:rPr>
              <a:t> Age Factor: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sz="1600" cap="all" spc="200" dirty="0">
                <a:solidFill>
                  <a:schemeClr val="tx2"/>
                </a:solidFill>
                <a:latin typeface="+mj-lt"/>
                <a:ea typeface="+mj-lt"/>
                <a:cs typeface="+mj-lt"/>
              </a:rPr>
              <a:t>Sleep disorders significantly increase in the </a:t>
            </a:r>
            <a:r>
              <a:rPr lang="en-US" sz="1600" b="1" cap="all" spc="200" dirty="0">
                <a:solidFill>
                  <a:schemeClr val="tx2"/>
                </a:solidFill>
                <a:latin typeface="+mj-lt"/>
                <a:ea typeface="+mj-lt"/>
                <a:cs typeface="+mj-lt"/>
              </a:rPr>
              <a:t>45–60 age</a:t>
            </a:r>
            <a:r>
              <a:rPr lang="en-US" sz="1600" cap="all" spc="200" dirty="0">
                <a:solidFill>
                  <a:schemeClr val="tx2"/>
                </a:solidFill>
                <a:latin typeface="+mj-lt"/>
                <a:ea typeface="+mj-lt"/>
                <a:cs typeface="+mj-lt"/>
              </a:rPr>
              <a:t> bracket.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b="1" dirty="0">
                <a:ea typeface="+mn-lt"/>
                <a:cs typeface="+mn-lt"/>
              </a:rPr>
              <a:t> Gender Trend: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sz="1600" cap="all" spc="200" dirty="0">
                <a:solidFill>
                  <a:schemeClr val="tx2"/>
                </a:solidFill>
                <a:latin typeface="+mj-lt"/>
                <a:ea typeface="+mj-lt"/>
                <a:cs typeface="+mj-lt"/>
              </a:rPr>
              <a:t>Females in this dataset show a higher concentration of Sleep Apnea compared to Males.</a:t>
            </a:r>
          </a:p>
          <a:p>
            <a:pPr>
              <a:buFont typeface="Arial" panose="020F0502020204030204" pitchFamily="34" charset="0"/>
              <a:buChar char="•"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0AFE09-FEBC-4F08-99E7-57C944096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7D39AC-53F1-44E9-8F0C-9C6858FFF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27354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55BDB16-82AD-4332-AC90-DA6C23F957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0CB90F-5DF6-1A9A-6391-62475CEC3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4679" y="634946"/>
            <a:ext cx="6381000" cy="6887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dirty="0">
                <a:ea typeface="+mj-lt"/>
                <a:cs typeface="+mj-lt"/>
              </a:rPr>
              <a:t>EDA – Health &amp; Lifestyle Impact</a:t>
            </a:r>
            <a:endParaRPr lang="en-US" sz="3200" b="1" dirty="0">
              <a:ea typeface="Calibri Light" panose="020F0302020204030204"/>
              <a:cs typeface="Calibri Light" panose="020F0302020204030204"/>
            </a:endParaRPr>
          </a:p>
        </p:txBody>
      </p:sp>
      <p:pic>
        <p:nvPicPr>
          <p:cNvPr id="5" name="Picture 4" descr="A graph showing a heart rate">
            <a:extLst>
              <a:ext uri="{FF2B5EF4-FFF2-40B4-BE49-F238E27FC236}">
                <a16:creationId xmlns:a16="http://schemas.microsoft.com/office/drawing/2014/main" id="{55AA00F4-2AB6-5A8C-BEAD-B45A1DF40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75" y="99835"/>
            <a:ext cx="4702997" cy="295739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DDFA162-28F6-4B17-96CD-4BAAB28DBA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81247" y="2086188"/>
            <a:ext cx="5852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497DB63-CD07-58BD-0465-1831C7F7E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94" y="3169975"/>
            <a:ext cx="4700378" cy="302958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DE01F73-3FFA-22C0-2AF4-4D8A93F7D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4679" y="2198914"/>
            <a:ext cx="6405063" cy="3670180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Arial" panose="020F0502020204030204" pitchFamily="34" charset="0"/>
              <a:buChar char="•"/>
            </a:pPr>
            <a:r>
              <a:rPr lang="en-US" b="1" dirty="0">
                <a:ea typeface="+mn-lt"/>
                <a:cs typeface="+mn-lt"/>
              </a:rPr>
              <a:t> Key Findings :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b="1" dirty="0">
                <a:ea typeface="+mn-lt"/>
                <a:cs typeface="+mn-lt"/>
              </a:rPr>
              <a:t> BMI Correlation : </a:t>
            </a:r>
            <a:r>
              <a:rPr lang="en-US" sz="1600" cap="all" spc="200" dirty="0">
                <a:solidFill>
                  <a:schemeClr val="tx2"/>
                </a:solidFill>
                <a:latin typeface="+mj-lt"/>
                <a:ea typeface="+mj-lt"/>
                <a:cs typeface="+mj-lt"/>
              </a:rPr>
              <a:t>Overweight individuals have a significantly higher risk of Sleep Apnea.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b="1" dirty="0">
                <a:ea typeface="+mn-lt"/>
                <a:cs typeface="+mn-lt"/>
              </a:rPr>
              <a:t> Blood Pressure : </a:t>
            </a:r>
            <a:r>
              <a:rPr lang="en-US" sz="1600" cap="all" spc="200" dirty="0">
                <a:solidFill>
                  <a:schemeClr val="tx2"/>
                </a:solidFill>
                <a:latin typeface="+mj-lt"/>
                <a:ea typeface="+mj-lt"/>
                <a:cs typeface="+mj-lt"/>
              </a:rPr>
              <a:t>High Systolic/Diastolic readings are strong precursors to sleep issues.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b="1" dirty="0">
                <a:ea typeface="+mn-lt"/>
                <a:cs typeface="+mn-lt"/>
              </a:rPr>
              <a:t> Heart Rate : </a:t>
            </a:r>
            <a:r>
              <a:rPr lang="en-US" sz="1600" cap="all" spc="200" dirty="0">
                <a:solidFill>
                  <a:schemeClr val="tx2"/>
                </a:solidFill>
                <a:latin typeface="+mj-lt"/>
                <a:ea typeface="+mj-lt"/>
                <a:cs typeface="+mj-lt"/>
              </a:rPr>
              <a:t>Lower resting heart rates correlate with "</a:t>
            </a:r>
            <a:r>
              <a:rPr lang="en-US" sz="1600" b="1" cap="all" spc="200" dirty="0">
                <a:solidFill>
                  <a:schemeClr val="tx2"/>
                </a:solidFill>
                <a:latin typeface="+mj-lt"/>
                <a:ea typeface="+mj-lt"/>
                <a:cs typeface="+mj-lt"/>
              </a:rPr>
              <a:t>None</a:t>
            </a:r>
            <a:r>
              <a:rPr lang="en-US" sz="1600" cap="all" spc="200" dirty="0">
                <a:solidFill>
                  <a:schemeClr val="tx2"/>
                </a:solidFill>
                <a:latin typeface="+mj-lt"/>
                <a:ea typeface="+mj-lt"/>
                <a:cs typeface="+mj-lt"/>
              </a:rPr>
              <a:t>" (healthy sleep), while spikes align with disorders.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0AFE09-FEBC-4F08-99E7-57C944096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7D39AC-53F1-44E9-8F0C-9C6858FFF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24875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4D33442-D148-4775-BF80-91F053E57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07EBBE-C6CC-8A6C-C028-46B60DF51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549" y="97535"/>
            <a:ext cx="5560307" cy="14748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dirty="0">
                <a:ea typeface="+mj-lt"/>
                <a:cs typeface="+mj-lt"/>
              </a:rPr>
              <a:t>Feature Correlation Analysis</a:t>
            </a:r>
            <a:endParaRPr lang="en-US" sz="3200" dirty="0">
              <a:ea typeface="Calibri Light" panose="020F0302020204030204"/>
              <a:cs typeface="Calibri Light" panose="020F0302020204030204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B61E902-076A-57DD-E5A0-7D8F12D1C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66" y="532039"/>
            <a:ext cx="5716322" cy="490438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8EF2C47-53DA-4F9F-918A-F6057C8EB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59E5BCB-64AC-CD71-FEBB-70184244A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8863" y="2134746"/>
            <a:ext cx="5656561" cy="3734348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Arial,Sans-Serif" panose="020F0502020204030204" pitchFamily="34" charset="0"/>
              <a:buChar char="•"/>
            </a:pPr>
            <a:r>
              <a:rPr lang="en-US" b="1" dirty="0">
                <a:ea typeface="Calibri"/>
                <a:cs typeface="Calibri"/>
              </a:rPr>
              <a:t> Key Findings :</a:t>
            </a:r>
            <a:endParaRPr lang="en-US" dirty="0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buFont typeface="Arial,Sans-Serif" panose="020F0502020204030204" pitchFamily="34" charset="0"/>
              <a:buChar char="•"/>
            </a:pPr>
            <a:r>
              <a:rPr lang="en-US" b="1" dirty="0">
                <a:ea typeface="Calibri"/>
                <a:cs typeface="Calibri"/>
              </a:rPr>
              <a:t> Stress vs. Sleep Quality : </a:t>
            </a:r>
            <a:r>
              <a:rPr lang="en-US" sz="1600" cap="all" dirty="0">
                <a:solidFill>
                  <a:schemeClr val="tx2"/>
                </a:solidFill>
                <a:latin typeface="Calibri Light"/>
                <a:ea typeface="Calibri Light"/>
                <a:cs typeface="Calibri Light"/>
              </a:rPr>
              <a:t>Strong negative correlation (-0.9)—as stress rises, sleep quality collapses.</a:t>
            </a:r>
          </a:p>
          <a:p>
            <a:pPr>
              <a:buFont typeface="Arial,Sans-Serif" panose="020F0502020204030204" pitchFamily="34" charset="0"/>
              <a:buChar char="•"/>
            </a:pPr>
            <a:r>
              <a:rPr lang="en-US" b="1" dirty="0">
                <a:ea typeface="Calibri"/>
                <a:cs typeface="Calibri"/>
              </a:rPr>
              <a:t> </a:t>
            </a:r>
            <a:r>
              <a:rPr lang="en-US" b="1" dirty="0">
                <a:ea typeface="+mn-lt"/>
                <a:cs typeface="+mn-lt"/>
              </a:rPr>
              <a:t>Sleep Duration vs. Quality</a:t>
            </a:r>
            <a:r>
              <a:rPr lang="en-US" b="1" dirty="0">
                <a:ea typeface="Calibri"/>
                <a:cs typeface="Calibri"/>
              </a:rPr>
              <a:t> : </a:t>
            </a:r>
            <a:r>
              <a:rPr lang="en-US" sz="1600" cap="all" dirty="0">
                <a:solidFill>
                  <a:schemeClr val="tx2"/>
                </a:solidFill>
                <a:latin typeface="Calibri Light"/>
                <a:ea typeface="Calibri Light"/>
                <a:cs typeface="Calibri Light"/>
              </a:rPr>
              <a:t>Strong positive correlation (0.88).</a:t>
            </a:r>
          </a:p>
          <a:p>
            <a:pPr>
              <a:buFont typeface="Arial,Sans-Serif" panose="020F0502020204030204" pitchFamily="34" charset="0"/>
              <a:buChar char="•"/>
            </a:pPr>
            <a:r>
              <a:rPr lang="en-US" b="1" dirty="0">
                <a:ea typeface="Calibri"/>
                <a:cs typeface="Calibri"/>
              </a:rPr>
              <a:t> </a:t>
            </a:r>
            <a:r>
              <a:rPr lang="en-US" b="1" dirty="0">
                <a:ea typeface="+mn-lt"/>
                <a:cs typeface="+mn-lt"/>
              </a:rPr>
              <a:t>Multicollinearity</a:t>
            </a:r>
            <a:r>
              <a:rPr lang="en-US" b="1" dirty="0">
                <a:ea typeface="Calibri"/>
                <a:cs typeface="Calibri"/>
              </a:rPr>
              <a:t> : </a:t>
            </a:r>
            <a:r>
              <a:rPr lang="en-US" sz="1600" cap="all" dirty="0">
                <a:solidFill>
                  <a:schemeClr val="tx2"/>
                </a:solidFill>
                <a:latin typeface="Calibri Light"/>
                <a:ea typeface="Calibri Light"/>
                <a:cs typeface="Calibri Light"/>
              </a:rPr>
              <a:t>High correlation between Systolic and Diastolic BP (0.97).</a:t>
            </a:r>
            <a:endParaRPr lang="en-US" sz="1600" cap="all" dirty="0" err="1">
              <a:solidFill>
                <a:schemeClr val="tx2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5E068D-E677-4E1B-8CE2-8CE1826A1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AD6E12-8A58-4D86-AACD-D58C4B256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79924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429A099-5CB1-4A20-B64F-4F0562EF3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7C0A89-7FB3-43F8-9DE3-0177E3E27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BFA6EA-1A35-177E-345D-42C6D0FF7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>
                <a:solidFill>
                  <a:srgbClr val="FFFFFF"/>
                </a:solidFill>
                <a:ea typeface="+mj-lt"/>
                <a:cs typeface="+mj-lt"/>
              </a:rPr>
              <a:t>Machine Learning Pipeline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9F4DD4-CC07-42A8-8AF8-069654F1A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9F29FE35-BE2D-3B5B-CC83-B185EE54F9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3835810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68176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E3110BF-1508-4B22-A98F-7D9122D27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0A6737-4970-6AF1-A208-85C59C12D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3577" y="634946"/>
            <a:ext cx="6846166" cy="1450757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Model Comparison &amp; Accuracy</a:t>
            </a:r>
            <a:endParaRPr lang="en-US" dirty="0"/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944FB81-4B1B-63D3-C713-62E9C757D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958" y="432912"/>
            <a:ext cx="3451618" cy="163537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421D832-FCE6-4026-A5B1-954692E1A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09772" y="2086188"/>
            <a:ext cx="5852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C971C08-6D2E-C1F0-F7E1-E16FB2303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64" y="2361050"/>
            <a:ext cx="3446682" cy="157685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4F984A3B-8E8C-072D-1437-8F36BF45DD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64" y="4110309"/>
            <a:ext cx="3446682" cy="155100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318AC-1175-D193-B367-A9FD37001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1747" y="2198914"/>
            <a:ext cx="6847996" cy="3670180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Arial" panose="020F0502020204030204" pitchFamily="34" charset="0"/>
              <a:buChar char="•"/>
            </a:pPr>
            <a:r>
              <a:rPr lang="en-US" b="1" dirty="0">
                <a:ea typeface="+mn-lt"/>
                <a:cs typeface="+mn-lt"/>
              </a:rPr>
              <a:t> Key Findings :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 b="1" dirty="0">
                <a:ea typeface="+mn-lt"/>
                <a:cs typeface="+mn-lt"/>
              </a:rPr>
              <a:t> Top Performer: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sz="1600" b="1" cap="all" spc="200" dirty="0">
                <a:solidFill>
                  <a:schemeClr val="tx2"/>
                </a:solidFill>
                <a:latin typeface="+mj-lt"/>
                <a:ea typeface="+mj-lt"/>
                <a:cs typeface="+mj-lt"/>
              </a:rPr>
              <a:t>Decision Tree</a:t>
            </a:r>
            <a:r>
              <a:rPr lang="en-US" sz="1600" cap="all" spc="200" dirty="0">
                <a:solidFill>
                  <a:schemeClr val="tx2"/>
                </a:solidFill>
                <a:latin typeface="+mj-lt"/>
                <a:ea typeface="+mj-lt"/>
                <a:cs typeface="+mj-lt"/>
              </a:rPr>
              <a:t> achieved the highest accuracy at </a:t>
            </a:r>
            <a:r>
              <a:rPr lang="en-US" sz="1600" b="1" cap="all" spc="200" dirty="0">
                <a:solidFill>
                  <a:schemeClr val="tx2"/>
                </a:solidFill>
                <a:latin typeface="+mj-lt"/>
                <a:ea typeface="+mj-lt"/>
                <a:cs typeface="+mj-lt"/>
              </a:rPr>
              <a:t>89.3%</a:t>
            </a:r>
            <a:r>
              <a:rPr lang="en-US" sz="1600" cap="all" spc="200" dirty="0">
                <a:solidFill>
                  <a:schemeClr val="tx2"/>
                </a:solidFill>
                <a:latin typeface="+mj-lt"/>
                <a:ea typeface="+mj-lt"/>
                <a:cs typeface="+mj-lt"/>
              </a:rPr>
              <a:t>.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b="1" dirty="0">
                <a:ea typeface="+mn-lt"/>
                <a:cs typeface="+mn-lt"/>
              </a:rPr>
              <a:t> Consistency: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sz="1600" b="1" cap="all" spc="200" dirty="0">
                <a:solidFill>
                  <a:schemeClr val="tx2"/>
                </a:solidFill>
                <a:latin typeface="+mj-lt"/>
                <a:ea typeface="+mj-lt"/>
                <a:cs typeface="+mj-lt"/>
              </a:rPr>
              <a:t>Random Forest </a:t>
            </a:r>
            <a:r>
              <a:rPr lang="en-US" sz="1600" cap="all" spc="200" dirty="0">
                <a:solidFill>
                  <a:schemeClr val="tx2"/>
                </a:solidFill>
                <a:latin typeface="+mj-lt"/>
                <a:ea typeface="+mj-lt"/>
                <a:cs typeface="+mj-lt"/>
              </a:rPr>
              <a:t>and </a:t>
            </a:r>
            <a:r>
              <a:rPr lang="en-US" sz="1600" b="1" cap="all" spc="200" dirty="0" err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XGBoost</a:t>
            </a:r>
            <a:r>
              <a:rPr lang="en-US" sz="1600" cap="all" spc="200" dirty="0">
                <a:solidFill>
                  <a:schemeClr val="tx2"/>
                </a:solidFill>
                <a:latin typeface="+mj-lt"/>
                <a:ea typeface="+mj-lt"/>
                <a:cs typeface="+mj-lt"/>
              </a:rPr>
              <a:t> followed closely at </a:t>
            </a:r>
            <a:r>
              <a:rPr lang="en-US" sz="1600" b="1" cap="all" spc="200" dirty="0">
                <a:solidFill>
                  <a:schemeClr val="tx2"/>
                </a:solidFill>
                <a:latin typeface="+mj-lt"/>
                <a:ea typeface="+mj-lt"/>
                <a:cs typeface="+mj-lt"/>
              </a:rPr>
              <a:t>88%</a:t>
            </a:r>
            <a:r>
              <a:rPr lang="en-US" sz="1600" cap="all" spc="200" dirty="0">
                <a:solidFill>
                  <a:schemeClr val="tx2"/>
                </a:solidFill>
                <a:latin typeface="+mj-lt"/>
                <a:ea typeface="+mj-lt"/>
                <a:cs typeface="+mj-lt"/>
              </a:rPr>
              <a:t>.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b="1" dirty="0">
                <a:ea typeface="+mn-lt"/>
                <a:cs typeface="+mn-lt"/>
              </a:rPr>
              <a:t> Reliability: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sz="1600" cap="all" spc="200" dirty="0">
                <a:solidFill>
                  <a:schemeClr val="tx2"/>
                </a:solidFill>
                <a:latin typeface="+mj-lt"/>
                <a:ea typeface="+mj-lt"/>
                <a:cs typeface="+mj-lt"/>
              </a:rPr>
              <a:t>The model is highly precise in identifying patients with </a:t>
            </a:r>
            <a:r>
              <a:rPr lang="en-US" sz="1600" b="1" cap="all" spc="200" dirty="0">
                <a:solidFill>
                  <a:schemeClr val="tx2"/>
                </a:solidFill>
                <a:latin typeface="+mj-lt"/>
                <a:ea typeface="+mj-lt"/>
                <a:cs typeface="+mj-lt"/>
              </a:rPr>
              <a:t>No Disorder (95% Precision)</a:t>
            </a:r>
            <a:r>
              <a:rPr lang="en-US" sz="1600" cap="all" spc="200" dirty="0">
                <a:solidFill>
                  <a:schemeClr val="tx2"/>
                </a:solidFill>
                <a:latin typeface="+mj-lt"/>
                <a:ea typeface="+mj-lt"/>
                <a:cs typeface="+mj-lt"/>
              </a:rPr>
              <a:t>.</a:t>
            </a:r>
          </a:p>
          <a:p>
            <a:pPr>
              <a:buFont typeface="Arial" panose="020F0502020204030204" pitchFamily="34" charset="0"/>
              <a:buChar char="•"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DEEBA4-0B42-4DCA-852F-4D86CE964B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90379A-EF95-4E00-8695-906F14374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88394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A7C97B8-2379-40E5-A95F-FB5E61A530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FC34-F9E6-45AC-DA00-0FC329122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b="1" dirty="0"/>
              <a:t>Feature Importance</a:t>
            </a:r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4468EF-EC8A-832B-4B01-BE0DE54977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862" y="1242839"/>
            <a:ext cx="6596980" cy="408482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C29A6B1-EC94-4744-BE48-B764337E9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D0805E5-A9CC-3A60-57EA-F27C7629A3C0}"/>
              </a:ext>
            </a:extLst>
          </p:cNvPr>
          <p:cNvSpPr txBox="1"/>
          <p:nvPr/>
        </p:nvSpPr>
        <p:spPr>
          <a:xfrm>
            <a:off x="7209780" y="2126725"/>
            <a:ext cx="4620698" cy="3742369"/>
          </a:xfrm>
          <a:prstGeom prst="rect">
            <a:avLst/>
          </a:prstGeom>
        </p:spPr>
        <p:txBody>
          <a:bodyPr rot="0" spcFirstLastPara="0" vertOverflow="overflow" horzOverflow="overflow" vert="horz" lIns="0" tIns="45720" rIns="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Key Findings 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Primary Predictors :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b="1" cap="all" spc="200" dirty="0">
                <a:solidFill>
                  <a:schemeClr val="tx2"/>
                </a:solidFill>
                <a:latin typeface="+mj-lt"/>
                <a:ea typeface="+mj-lt"/>
                <a:cs typeface="+mj-lt"/>
              </a:rPr>
              <a:t>BMI Category</a:t>
            </a:r>
            <a:r>
              <a:rPr lang="en-US" sz="1600" cap="all" spc="200" dirty="0">
                <a:solidFill>
                  <a:schemeClr val="tx2"/>
                </a:solidFill>
                <a:latin typeface="+mj-lt"/>
                <a:ea typeface="+mj-lt"/>
                <a:cs typeface="+mj-lt"/>
              </a:rPr>
              <a:t> and </a:t>
            </a:r>
            <a:r>
              <a:rPr lang="en-US" sz="1600" b="1" cap="all" spc="200" dirty="0">
                <a:solidFill>
                  <a:schemeClr val="tx2"/>
                </a:solidFill>
                <a:latin typeface="+mj-lt"/>
                <a:ea typeface="+mj-lt"/>
                <a:cs typeface="+mj-lt"/>
              </a:rPr>
              <a:t>Blood Pressure</a:t>
            </a:r>
            <a:r>
              <a:rPr lang="en-US" sz="1600" cap="all" spc="200" dirty="0">
                <a:solidFill>
                  <a:schemeClr val="tx2"/>
                </a:solidFill>
                <a:latin typeface="+mj-lt"/>
                <a:ea typeface="+mj-lt"/>
                <a:cs typeface="+mj-lt"/>
              </a:rPr>
              <a:t> are the most critical factors for prediction.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endParaRPr lang="en-US" sz="1600" cap="all" spc="200" dirty="0">
              <a:solidFill>
                <a:schemeClr val="tx2"/>
              </a:solidFill>
              <a:latin typeface="Calibri Light"/>
              <a:ea typeface="Calibri Light"/>
              <a:cs typeface="Calibri Light"/>
            </a:endParaRP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Secondary Factors :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cap="all" spc="200" dirty="0">
                <a:solidFill>
                  <a:schemeClr val="tx2"/>
                </a:solidFill>
                <a:latin typeface="+mj-lt"/>
                <a:ea typeface="+mj-lt"/>
                <a:cs typeface="+mj-lt"/>
              </a:rPr>
              <a:t>Occupation and Age play a moderate role.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endParaRPr lang="en-US" sz="1600" cap="all" spc="200" dirty="0">
              <a:solidFill>
                <a:schemeClr val="tx2"/>
              </a:solidFill>
              <a:latin typeface="Calibri Light"/>
              <a:ea typeface="Calibri Light"/>
              <a:cs typeface="Calibri Light"/>
            </a:endParaRP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Conclusion :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cap="all" spc="200" dirty="0">
                <a:solidFill>
                  <a:schemeClr val="tx2"/>
                </a:solidFill>
                <a:latin typeface="+mj-lt"/>
                <a:ea typeface="+mj-lt"/>
                <a:cs typeface="+mj-lt"/>
              </a:rPr>
              <a:t>Physical health metrics (BMI/BP) outweigh demographic metrics (Gender) in predicting sleep health.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3FF3CE-53DE-41A6-A8DF-EE8A85EDCF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F0D992-B6E9-451D-A97E-B81C761D0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34218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97CBE6B8-242C-4E84-B53B-2D3C7AFEC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A8889D-A16F-7F19-49E0-E77AC4CB5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0933" y="634946"/>
            <a:ext cx="5225587" cy="7930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b="1" dirty="0">
                <a:ea typeface="+mj-lt"/>
                <a:cs typeface="+mj-lt"/>
              </a:rPr>
              <a:t>Interactive with Points of Dashboards</a:t>
            </a:r>
            <a:endParaRPr lang="en-US" sz="2800" b="1" dirty="0">
              <a:ea typeface="Calibri Light"/>
              <a:cs typeface="Calibri Light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6621B4C-5F98-4639-B8AE-0F0F22CEB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3" y="321733"/>
            <a:ext cx="3057906" cy="3408237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blue circle with text and numbers&#10;&#10;AI-generated content may be incorrect.">
            <a:extLst>
              <a:ext uri="{FF2B5EF4-FFF2-40B4-BE49-F238E27FC236}">
                <a16:creationId xmlns:a16="http://schemas.microsoft.com/office/drawing/2014/main" id="{A21C1D4A-1795-3C36-06D0-53E7A9EE6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336" y="783180"/>
            <a:ext cx="2784700" cy="248534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4E3C28B0-CB89-496D-8AAB-F267D3B6F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28588" y="321734"/>
            <a:ext cx="2567411" cy="1955250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grey and black text with black numbers">
            <a:extLst>
              <a:ext uri="{FF2B5EF4-FFF2-40B4-BE49-F238E27FC236}">
                <a16:creationId xmlns:a16="http://schemas.microsoft.com/office/drawing/2014/main" id="{B68356E4-73B2-EA87-BBAF-5227CE46B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4753" y="828173"/>
            <a:ext cx="2295082" cy="91803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84865D3-F3CD-4FF7-816D-B6CC3F19A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46959" y="2085703"/>
            <a:ext cx="41148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345BFF8B-A983-488D-A5BF-A097AF0E98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3" y="3879167"/>
            <a:ext cx="3057906" cy="2104612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-up of a number&#10;&#10;AI-generated content may be incorrect.">
            <a:extLst>
              <a:ext uri="{FF2B5EF4-FFF2-40B4-BE49-F238E27FC236}">
                <a16:creationId xmlns:a16="http://schemas.microsoft.com/office/drawing/2014/main" id="{32E86246-9997-E7C1-1618-46A020169E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337" y="4370990"/>
            <a:ext cx="2784700" cy="110454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5B25846C-DE6D-4935-80E3-3646D543C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28588" y="2451014"/>
            <a:ext cx="2567411" cy="3532765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graph of sleep disorder&#10;&#10;AI-generated content may be incorrect.">
            <a:extLst>
              <a:ext uri="{FF2B5EF4-FFF2-40B4-BE49-F238E27FC236}">
                <a16:creationId xmlns:a16="http://schemas.microsoft.com/office/drawing/2014/main" id="{BB28A5C6-995B-82FB-1FDE-4F5E4C1CAC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4752" y="2582550"/>
            <a:ext cx="2295082" cy="326167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6CB47197-0BF2-9C3A-815B-058016C39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0933" y="2198914"/>
            <a:ext cx="4928809" cy="3670180"/>
          </a:xfrm>
        </p:spPr>
        <p:txBody>
          <a:bodyPr vert="horz" lIns="0" tIns="45720" rIns="0" bIns="45720" rtlCol="0" anchor="t">
            <a:normAutofit/>
          </a:bodyPr>
          <a:lstStyle/>
          <a:p>
            <a:pPr>
              <a:buFont typeface="Arial" panose="020F0502020204030204" pitchFamily="34" charset="0"/>
              <a:buChar char="•"/>
            </a:pPr>
            <a:r>
              <a:rPr lang="en-US" b="1" dirty="0">
                <a:ea typeface="+mn-lt"/>
                <a:cs typeface="+mn-lt"/>
              </a:rPr>
              <a:t> Real-time Filtering: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sz="1600" cap="all" spc="200" dirty="0">
                <a:solidFill>
                  <a:schemeClr val="tx2"/>
                </a:solidFill>
                <a:latin typeface="+mj-lt"/>
                <a:ea typeface="+mj-lt"/>
                <a:cs typeface="+mj-lt"/>
              </a:rPr>
              <a:t>Slice data by Gender or Occupation.</a:t>
            </a:r>
            <a:endParaRPr lang="en-US">
              <a:solidFill>
                <a:schemeClr val="tx2"/>
              </a:solidFill>
            </a:endParaRPr>
          </a:p>
          <a:p>
            <a:pPr>
              <a:buFont typeface="Arial" panose="020F0502020204030204" pitchFamily="34" charset="0"/>
              <a:buChar char="•"/>
            </a:pPr>
            <a:endParaRPr lang="en-US" sz="1600" cap="all" spc="200" dirty="0">
              <a:solidFill>
                <a:schemeClr val="tx2"/>
              </a:solidFill>
              <a:latin typeface="Calibri Light"/>
              <a:ea typeface="Calibri Light"/>
              <a:cs typeface="Calibri Light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 b="1" dirty="0">
                <a:ea typeface="+mn-lt"/>
                <a:cs typeface="+mn-lt"/>
              </a:rPr>
              <a:t> Key Metrics Display: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sz="1600" cap="all" spc="200" dirty="0">
                <a:solidFill>
                  <a:schemeClr val="tx2"/>
                </a:solidFill>
                <a:latin typeface="+mj-lt"/>
                <a:ea typeface="+mj-lt"/>
                <a:cs typeface="+mj-lt"/>
              </a:rPr>
              <a:t>Avg Sleep Duration (7.13 hrs.) and Avg Stress Level (5.39)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0A22042-383C-4559-B267-4740CC790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443547D-8B5F-41A6-81F2-87E5EBFB6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57782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77F2B-F14F-CC50-3441-590A65E1C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614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u="sng" dirty="0">
                <a:ea typeface="+mj-lt"/>
                <a:cs typeface="+mj-lt"/>
              </a:rPr>
              <a:t>Conclusion &amp; Recommendations</a:t>
            </a:r>
            <a:endParaRPr lang="en-US" sz="3200" b="1" u="sng" dirty="0"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6B284-23F0-4EE0-BF09-57D968535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>
              <a:buFont typeface="Arial" panose="020F0502020204030204" pitchFamily="34" charset="0"/>
              <a:buChar char="•"/>
            </a:pPr>
            <a:r>
              <a:rPr lang="en-US" sz="2200" b="1" cap="all" spc="200" dirty="0">
                <a:solidFill>
                  <a:schemeClr val="tx2"/>
                </a:solidFill>
                <a:latin typeface="+mj-lt"/>
                <a:ea typeface="+mj-lt"/>
                <a:cs typeface="+mj-lt"/>
              </a:rPr>
              <a:t> Summary</a:t>
            </a:r>
            <a:r>
              <a:rPr lang="en-US" b="1" dirty="0">
                <a:ea typeface="+mn-lt"/>
                <a:cs typeface="+mn-lt"/>
              </a:rPr>
              <a:t> 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sz="2200" cap="all" spc="200" dirty="0">
                <a:solidFill>
                  <a:srgbClr val="514949"/>
                </a:solidFill>
                <a:latin typeface="Calibri Light"/>
                <a:ea typeface="Calibri Light"/>
                <a:cs typeface="Calibri Light"/>
              </a:rPr>
              <a:t>We successfully built a model with </a:t>
            </a:r>
            <a:r>
              <a:rPr lang="en-US" sz="2200" b="1" cap="all" spc="200" dirty="0">
                <a:solidFill>
                  <a:srgbClr val="514949"/>
                </a:solidFill>
                <a:latin typeface="Calibri Light"/>
                <a:ea typeface="Calibri Light"/>
                <a:cs typeface="Calibri Light"/>
              </a:rPr>
              <a:t>89% accuracy</a:t>
            </a:r>
            <a:r>
              <a:rPr lang="en-US" sz="2200" cap="all" spc="200" dirty="0">
                <a:solidFill>
                  <a:srgbClr val="514949"/>
                </a:solidFill>
                <a:latin typeface="Calibri Light"/>
                <a:ea typeface="Calibri Light"/>
                <a:cs typeface="Calibri Light"/>
              </a:rPr>
              <a:t> to predict sleep disorders.</a:t>
            </a:r>
            <a:endParaRPr lang="en-US"/>
          </a:p>
          <a:p>
            <a:pPr>
              <a:buFont typeface="Arial" panose="020F0502020204030204" pitchFamily="34" charset="0"/>
              <a:buChar char="•"/>
            </a:pPr>
            <a:endParaRPr lang="en-US" sz="2200" cap="all" spc="200" dirty="0">
              <a:solidFill>
                <a:schemeClr val="tx2"/>
              </a:solidFill>
              <a:latin typeface="+mj-lt"/>
              <a:ea typeface="+mj-lt"/>
              <a:cs typeface="+mj-lt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 sz="2200" b="1" cap="all" spc="200" dirty="0">
                <a:solidFill>
                  <a:schemeClr val="tx2"/>
                </a:solidFill>
                <a:latin typeface="+mj-lt"/>
                <a:ea typeface="+mj-lt"/>
                <a:cs typeface="+mj-lt"/>
              </a:rPr>
              <a:t> Recommendation</a:t>
            </a:r>
            <a:r>
              <a:rPr lang="en-US" b="1" dirty="0">
                <a:ea typeface="+mn-lt"/>
                <a:cs typeface="+mn-lt"/>
              </a:rPr>
              <a:t> 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sz="2200" cap="all" spc="200" dirty="0">
                <a:solidFill>
                  <a:srgbClr val="514949"/>
                </a:solidFill>
                <a:latin typeface="Calibri Light"/>
                <a:ea typeface="Calibri Light"/>
                <a:cs typeface="Calibri Light"/>
              </a:rPr>
              <a:t>Focus health interventions on "Overweight" individuals in high-stress jobs (Nurses/Doctors).</a:t>
            </a:r>
          </a:p>
          <a:p>
            <a:pPr>
              <a:buFont typeface="Arial" panose="020F0502020204030204" pitchFamily="34" charset="0"/>
              <a:buChar char="•"/>
            </a:pPr>
            <a:endParaRPr lang="en-US" sz="2200" cap="all" spc="200" dirty="0">
              <a:solidFill>
                <a:schemeClr val="tx2"/>
              </a:solidFill>
              <a:latin typeface="+mj-lt"/>
              <a:ea typeface="+mj-lt"/>
              <a:cs typeface="+mj-lt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 sz="2200" b="1" cap="all" spc="200" dirty="0">
                <a:solidFill>
                  <a:schemeClr val="tx2"/>
                </a:solidFill>
                <a:latin typeface="+mj-lt"/>
                <a:ea typeface="+mj-lt"/>
                <a:cs typeface="+mj-lt"/>
              </a:rPr>
              <a:t> Future Scope 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sz="2200" cap="all" spc="200" dirty="0">
                <a:solidFill>
                  <a:srgbClr val="514949"/>
                </a:solidFill>
                <a:latin typeface="Calibri Light"/>
                <a:ea typeface="Calibri Light"/>
                <a:cs typeface="Calibri Light"/>
              </a:rPr>
              <a:t>Integrate data from wearable devices (Heart Rate/Steps) for real-time monitoring.</a:t>
            </a:r>
          </a:p>
          <a:p>
            <a:pPr>
              <a:buFont typeface="Arial" panose="020F0502020204030204" pitchFamily="34" charset="0"/>
              <a:buChar char="•"/>
            </a:pP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198754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Retrospect</vt:lpstr>
      <vt:lpstr>Predictive Analytics for Sleep Disorders</vt:lpstr>
      <vt:lpstr>Project Overview &amp; Objectives</vt:lpstr>
      <vt:lpstr>Exploratory Data Analysis (EDA)</vt:lpstr>
      <vt:lpstr>EDA – Health &amp; Lifestyle Impact</vt:lpstr>
      <vt:lpstr>Feature Correlation Analysis</vt:lpstr>
      <vt:lpstr>Machine Learning Pipeline</vt:lpstr>
      <vt:lpstr>Model Comparison &amp; Accuracy</vt:lpstr>
      <vt:lpstr>Feature Importance</vt:lpstr>
      <vt:lpstr>Interactive with Points of Dashboards</vt:lpstr>
      <vt:lpstr>Conclusion &amp; 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369</cp:revision>
  <dcterms:created xsi:type="dcterms:W3CDTF">2013-07-15T20:26:40Z</dcterms:created>
  <dcterms:modified xsi:type="dcterms:W3CDTF">2026-03-04T22:23:31Z</dcterms:modified>
</cp:coreProperties>
</file>